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g"/><Relationship Id="rId3" Type="http://schemas.openxmlformats.org/officeDocument/2006/relationships/image" Target="../media/image-1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6400800" cy="6400800"/>
          </a:xfrm>
          <a:prstGeom prst="ellipse">
            <a:avLst/>
          </a:prstGeom>
          <a:solidFill>
            <a:srgbClr val="5B43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486400" cy="5486400"/>
          </a:xfrm>
          <a:prstGeom prst="ellipse">
            <a:avLst/>
          </a:prstGeom>
          <a:solidFill>
            <a:srgbClr val="00C2E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 · PORTAFOLIO DE TÍTULO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Gestión Integral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FarmaClick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de gestión interna y e-commerce para la modernización operativa de MediFarm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4206240" cy="0"/>
          </a:xfrm>
          <a:prstGeom prst="line">
            <a:avLst/>
          </a:prstGeom>
          <a:noFill/>
          <a:ln w="19050">
            <a:solidFill>
              <a:srgbClr val="00C2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Fuentes · Víctor Rubilar · Robert Gonzalez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— Sede San Bernardo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MediFarm — Farmacia independiente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41A3F"/>
          </a:solidFill>
          <a:ln/>
        </p:spPr>
      </p:sp>
      <p:pic>
        <p:nvPicPr>
          <p:cNvPr id="13" name="Image 0" descr="/home/claude/medifarm_deck/d-softwa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144768"/>
            <a:ext cx="1691640" cy="3931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834640" y="6172200"/>
            <a:ext cx="0" cy="365760"/>
          </a:xfrm>
          <a:prstGeom prst="line">
            <a:avLst/>
          </a:prstGeom>
          <a:noFill/>
          <a:ln w="12700">
            <a:solidFill>
              <a:srgbClr val="685F7D"/>
            </a:solidFill>
            <a:prstDash val="solid"/>
          </a:ln>
        </p:spPr>
      </p:sp>
      <p:pic>
        <p:nvPicPr>
          <p:cNvPr id="15" name="Image 1" descr="/home/claude/medifarm_deck/logo_MediFarm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6062472"/>
            <a:ext cx="566928" cy="56692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57032" y="6263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Definición del Proyecto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SITUACIÓN ACTUAL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¿Quién es MediFarm?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Farmacia independiente con un gran potencial de crecimiento, que hoy opera desde una única sucursal física en su comuna.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4F2FA"/>
          </a:solidFill>
          <a:ln/>
          <a:effectLst>
            <a:outerShdw sx="100000" sy="100000" kx="0" ky="0" algn="bl" rotWithShape="0" blurRad="101600" dist="38100" dir="5400000">
              <a:srgbClr val="6B5A9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2980" y="2674620"/>
            <a:ext cx="868680" cy="86868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7" name="Image 0" descr="/home/claude/medifarm_deck/icon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463" y="2883103"/>
            <a:ext cx="451714" cy="4517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749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al detalle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42519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Medicamentos y artículos de salud o belleza, orientados al consumidor final que visita el local.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63640" y="233172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F4F2FA"/>
          </a:solidFill>
          <a:ln/>
          <a:effectLst>
            <a:outerShdw sx="100000" sy="100000" kx="0" ky="0" algn="bl" rotWithShape="0" blurRad="101600" dist="38100" dir="5400000">
              <a:srgbClr val="6B5A9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97980" y="2674620"/>
            <a:ext cx="868680" cy="868680"/>
          </a:xfrm>
          <a:prstGeom prst="ellipse">
            <a:avLst/>
          </a:prstGeom>
          <a:solidFill>
            <a:srgbClr val="0099BE"/>
          </a:solidFill>
          <a:ln/>
        </p:spPr>
      </p:sp>
      <p:pic>
        <p:nvPicPr>
          <p:cNvPr id="12" name="Image 1" descr="/home/claude/medifarm_deck/icon_tru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463" y="288310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29400" y="37490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Distribución mayorista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6629400" y="4251960"/>
            <a:ext cx="4343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de productos de venta directa y perfumería para comerciantes y otras farmacias, gestionado de forma presencial o telefónica.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864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negocio, dos operaciones: </a:t>
            </a:r>
            <a:pPr indent="0" marL="0">
              <a:buNone/>
            </a:pPr>
            <a:r>
              <a:rPr lang="en-US" sz="1250" i="1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sostener ambas líneas, MediFarm gestiona su abastecimiento a través de una red de múltiples proveedores.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Procesos operativos precarios y vulnerables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transacciones de la línea mayorista (venta directa y perfumería) se gestionan 100% de forma manual, sin ningún sistema informático que las respalde.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322320" cy="3291840"/>
          </a:xfrm>
          <a:prstGeom prst="roundRect">
            <a:avLst>
              <a:gd name="adj" fmla="val 2778"/>
            </a:avLst>
          </a:prstGeom>
          <a:solidFill>
            <a:srgbClr val="35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798320" y="2880360"/>
            <a:ext cx="822960" cy="822960"/>
          </a:xfrm>
          <a:prstGeom prst="ellipse">
            <a:avLst/>
          </a:prstGeom>
          <a:solidFill>
            <a:srgbClr val="E85A45"/>
          </a:solidFill>
          <a:ln/>
        </p:spPr>
      </p:sp>
      <p:pic>
        <p:nvPicPr>
          <p:cNvPr id="7" name="Image 0" descr="/home/claude/medifarm_deck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830" y="307787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88620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Errores humanos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22960" y="457200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ventas y transacciones telefónicas, sin control ni respaldo digital.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91000" y="2514600"/>
            <a:ext cx="3322320" cy="3291840"/>
          </a:xfrm>
          <a:prstGeom prst="roundRect">
            <a:avLst>
              <a:gd name="adj" fmla="val 2778"/>
            </a:avLst>
          </a:prstGeom>
          <a:solidFill>
            <a:srgbClr val="35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5440680" y="2880360"/>
            <a:ext cx="822960" cy="822960"/>
          </a:xfrm>
          <a:prstGeom prst="ellipse">
            <a:avLst/>
          </a:prstGeom>
          <a:solidFill>
            <a:srgbClr val="E85A45"/>
          </a:solidFill>
          <a:ln/>
        </p:spPr>
      </p:sp>
      <p:pic>
        <p:nvPicPr>
          <p:cNvPr id="12" name="Image 1" descr="/home/claude/medifarm_deck/icon_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307787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5320" y="388620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Rotación descontrolada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465320" y="457200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medicamentos, sin visibilidad del ciclo de vida del inventario.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33360" y="2514600"/>
            <a:ext cx="3322320" cy="3291840"/>
          </a:xfrm>
          <a:prstGeom prst="roundRect">
            <a:avLst>
              <a:gd name="adj" fmla="val 2778"/>
            </a:avLst>
          </a:prstGeom>
          <a:solidFill>
            <a:srgbClr val="35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9083040" y="2880360"/>
            <a:ext cx="822960" cy="822960"/>
          </a:xfrm>
          <a:prstGeom prst="ellipse">
            <a:avLst/>
          </a:prstGeom>
          <a:solidFill>
            <a:srgbClr val="E85A45"/>
          </a:solidFill>
          <a:ln/>
        </p:spPr>
      </p:sp>
      <p:pic>
        <p:nvPicPr>
          <p:cNvPr id="17" name="Image 2" descr="/home/claude/medifarm_deck/icon_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550" y="307787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7680" y="3886200"/>
            <a:ext cx="277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Mermas y pérdidas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8107680" y="4572000"/>
            <a:ext cx="277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financieras por falta de una operación protegida y trazable.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PROPUESTA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ecosistema digital integral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D-Software propone diseñar, desarrollar e implementar una plataforma tecnológica que automatiza toda la administración operativa, logística y comercial de la farmacia.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F4F2FA"/>
          </a:solidFill>
          <a:ln/>
          <a:effectLst>
            <a:outerShdw sx="100000" sy="100000" kx="0" ky="0" algn="bl" rotWithShape="0" blurRad="101600" dist="38100" dir="5400000">
              <a:srgbClr val="6B5A9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1540" y="2583180"/>
            <a:ext cx="777240" cy="77724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7" name="Image 0" descr="/home/claude/medifarm_deck/icon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078" y="276971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6700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web de gestión interna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14400" y="356616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del ciclo de vida del inventario en tiempo real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de mercancía y trazabilidad por proveedor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segura de permisos del equipo de trabajo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analíticos para decisiones estratégicas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2286000"/>
            <a:ext cx="5074920" cy="3063240"/>
          </a:xfrm>
          <a:prstGeom prst="roundRect">
            <a:avLst>
              <a:gd name="adj" fmla="val 3582"/>
            </a:avLst>
          </a:prstGeom>
          <a:solidFill>
            <a:srgbClr val="F4F2FA"/>
          </a:solidFill>
          <a:ln/>
          <a:effectLst>
            <a:outerShdw sx="100000" sy="100000" kx="0" ky="0" algn="bl" rotWithShape="0" blurRad="101600" dist="38100" dir="5400000">
              <a:srgbClr val="6B5A9A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06540" y="2583180"/>
            <a:ext cx="777240" cy="777240"/>
          </a:xfrm>
          <a:prstGeom prst="ellipse">
            <a:avLst/>
          </a:prstGeom>
          <a:solidFill>
            <a:srgbClr val="0099BE"/>
          </a:solidFill>
          <a:ln/>
        </p:spPr>
      </p:sp>
      <p:pic>
        <p:nvPicPr>
          <p:cNvPr id="12" name="Image 1" descr="/home/claude/medifarm_deck/icon_c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078" y="2769718"/>
            <a:ext cx="404165" cy="40416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98080" y="2670048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de E-commerce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6629400" y="3566160"/>
            <a:ext cx="4343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online orientada al consumidor final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más allá de la comuna de origen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una distribución a nivel nacional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el inventario en tiempo real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5623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ecosistema: el inventario, las ventas y los permisos del equipo se sincronizan en tiempo real entre ambos módulos.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RELEVANCIA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problema real de la industria pyme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F4F2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digitalización de procesos de negocio obsoletos </a:t>
            </a:r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necesidad crítica y un campo de acción fundamental para la ingeniería informática actual, especialmente en pymes que operan de forma 100% manual.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2940" y="3406140"/>
            <a:ext cx="777240" cy="77724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7" name="Image 0" descr="/home/claude/medifarm_deck/icon_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478" y="3592678"/>
            <a:ext cx="404165" cy="4041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97680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Trabajadores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4709160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expuestos a cometer errores humanos en transacciones y ventas telefónicas.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05300" y="3406140"/>
            <a:ext cx="777240" cy="777240"/>
          </a:xfrm>
          <a:prstGeom prst="ellipse">
            <a:avLst/>
          </a:prstGeom>
          <a:solidFill>
            <a:srgbClr val="0099BE"/>
          </a:solidFill>
          <a:ln/>
        </p:spPr>
      </p:sp>
      <p:pic>
        <p:nvPicPr>
          <p:cNvPr id="11" name="Image 1" descr="/home/claude/medifarm_deck/icon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838" y="35926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91000" y="4297680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Administración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191000" y="4709160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enfrenta mermas, pérdidas financieras y control deficiente de la rotación.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47660" y="3406140"/>
            <a:ext cx="777240" cy="77724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15" name="Image 2" descr="/home/claude/medifarm_deck/icon_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4198" y="3592678"/>
            <a:ext cx="404165" cy="40416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833360" y="4297680"/>
            <a:ext cx="332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Escalabilidad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7833360" y="4709160"/>
            <a:ext cx="332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aporte de valor real es habilitar el salto al comercio electrónico nacional.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general y específicos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607040" cy="1188720"/>
          </a:xfrm>
          <a:prstGeom prst="roundRect">
            <a:avLst>
              <a:gd name="adj" fmla="val 7692"/>
            </a:avLst>
          </a:prstGeom>
          <a:solidFill>
            <a:srgbClr val="463270"/>
          </a:solidFill>
          <a:ln/>
        </p:spPr>
      </p:sp>
      <p:sp>
        <p:nvSpPr>
          <p:cNvPr id="5" name="Shape 3"/>
          <p:cNvSpPr/>
          <p:nvPr/>
        </p:nvSpPr>
        <p:spPr>
          <a:xfrm>
            <a:off x="982980" y="1714500"/>
            <a:ext cx="777240" cy="777240"/>
          </a:xfrm>
          <a:prstGeom prst="ellipse">
            <a:avLst/>
          </a:prstGeom>
          <a:solidFill>
            <a:srgbClr val="00C2E8"/>
          </a:solidFill>
          <a:ln/>
        </p:spPr>
      </p:sp>
      <p:pic>
        <p:nvPicPr>
          <p:cNvPr id="6" name="Image 0" descr="/home/claude/medifarm_deck/icon_bulls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518" y="19010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64592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
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la plataforma tecnológica integral FarmaClick, compuesta por un sistema web administrativo y un módulo e-commerce, para automatizar la gestión operativa, logística y comercial de MediFarm.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88720" y="29443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Levantar y documentar los procesos manuales actuales de venta y abastecimiento para poblar el Product Backlog.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88720" y="36301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técnica del sistema y configurar el entorno de despliegue en Google Cloud Platform.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188720" y="43159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el módulo administrativo interno con React.js y Node.js para el control del ciclo de vida de los productos.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5029200"/>
            <a:ext cx="457200" cy="45720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188720" y="50017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 integrar el módulo de e-commerce orientado a la venta online.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715000"/>
            <a:ext cx="457200" cy="45720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188720" y="568756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4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funcionalidad del sistema mediante pruebas continuas y revisiones de sprint.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PERTINENCIA CON EL PERFIL DE EGRESO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en práctica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exige llevar a la práctica lo que se espera de un profesional del área: analizar, diseñar, desarrollar, implementar y gestionar proyectos informáticos.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322320" cy="3429000"/>
          </a:xfrm>
          <a:prstGeom prst="roundRect">
            <a:avLst>
              <a:gd name="adj" fmla="val 2752"/>
            </a:avLst>
          </a:prstGeom>
          <a:solidFill>
            <a:srgbClr val="F4F2FA"/>
          </a:solidFill>
          <a:ln/>
        </p:spPr>
      </p:sp>
      <p:sp>
        <p:nvSpPr>
          <p:cNvPr id="6" name="Shape 4"/>
          <p:cNvSpPr/>
          <p:nvPr/>
        </p:nvSpPr>
        <p:spPr>
          <a:xfrm>
            <a:off x="1798320" y="2697480"/>
            <a:ext cx="822960" cy="82296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7" name="Image 0" descr="/home/claude/medifarm_deck/icon_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5830" y="2894990"/>
            <a:ext cx="427939" cy="4279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03320"/>
            <a:ext cx="277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y planificación de requerimientos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22960" y="4526280"/>
            <a:ext cx="277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y traducir los procesos logísticos y comerciales de la farmacia en historias de usuario y tareas del Product Backlog.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191000" y="2331720"/>
            <a:ext cx="3322320" cy="3429000"/>
          </a:xfrm>
          <a:prstGeom prst="roundRect">
            <a:avLst>
              <a:gd name="adj" fmla="val 2752"/>
            </a:avLst>
          </a:prstGeom>
          <a:solidFill>
            <a:srgbClr val="F4F2FA"/>
          </a:solidFill>
          <a:ln/>
        </p:spPr>
      </p:sp>
      <p:sp>
        <p:nvSpPr>
          <p:cNvPr id="11" name="Shape 8"/>
          <p:cNvSpPr/>
          <p:nvPr/>
        </p:nvSpPr>
        <p:spPr>
          <a:xfrm>
            <a:off x="5440680" y="2697480"/>
            <a:ext cx="822960" cy="82296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12" name="Image 1" descr="/home/claude/medifarm_deck/icon_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190" y="2894990"/>
            <a:ext cx="427939" cy="42793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65320" y="3703320"/>
            <a:ext cx="277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soluciones de software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465320" y="4526280"/>
            <a:ext cx="277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Estructurar la arquitectura técnica y el entorno de despliegue en la nube, integrando el sistema de gestión con el e-commerce.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833360" y="2331720"/>
            <a:ext cx="3322320" cy="3429000"/>
          </a:xfrm>
          <a:prstGeom prst="roundRect">
            <a:avLst>
              <a:gd name="adj" fmla="val 2752"/>
            </a:avLst>
          </a:prstGeom>
          <a:solidFill>
            <a:srgbClr val="F4F2FA"/>
          </a:solidFill>
          <a:ln/>
        </p:spPr>
      </p:sp>
      <p:sp>
        <p:nvSpPr>
          <p:cNvPr id="16" name="Shape 12"/>
          <p:cNvSpPr/>
          <p:nvPr/>
        </p:nvSpPr>
        <p:spPr>
          <a:xfrm>
            <a:off x="9083040" y="2697480"/>
            <a:ext cx="822960" cy="82296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17" name="Image 2" descr="/home/claude/medifarm_deck/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0550" y="289499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7680" y="3703320"/>
            <a:ext cx="277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Programación de software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107680" y="4526280"/>
            <a:ext cx="2773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backend y frontend necesarios para automatizar en tiempo real el ciclo de vida del inventario.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INTERESES PROFESIONALES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desafío técnico completo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29740" y="2354580"/>
            <a:ext cx="960120" cy="960120"/>
          </a:xfrm>
          <a:prstGeom prst="ellipse">
            <a:avLst/>
          </a:prstGeom>
          <a:solidFill>
            <a:srgbClr val="5B4390"/>
          </a:solidFill>
          <a:ln/>
        </p:spPr>
      </p:sp>
      <p:pic>
        <p:nvPicPr>
          <p:cNvPr id="5" name="Image 0" descr="/home/claude/medifarm_deck/icon_lap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169" y="2585009"/>
            <a:ext cx="499262" cy="4992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56616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Full-Stack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85800" y="416052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una solución desde cero con un stack tecnológico moderno.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372100" y="2354580"/>
            <a:ext cx="960120" cy="960120"/>
          </a:xfrm>
          <a:prstGeom prst="ellipse">
            <a:avLst/>
          </a:prstGeom>
          <a:solidFill>
            <a:srgbClr val="0099BE"/>
          </a:solidFill>
          <a:ln/>
        </p:spPr>
      </p:sp>
      <p:pic>
        <p:nvPicPr>
          <p:cNvPr id="9" name="Image 1" descr="/home/claude/medifarm_deck/icon_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529" y="2585009"/>
            <a:ext cx="499262" cy="49926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91000" y="356616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escalable en la nube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328160" y="416052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Estructuración de bases de datos relacionales y despliegue en Google Cloud Platform.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9014460" y="2354580"/>
            <a:ext cx="960120" cy="960120"/>
          </a:xfrm>
          <a:prstGeom prst="ellipse">
            <a:avLst/>
          </a:prstGeom>
          <a:solidFill>
            <a:srgbClr val="5B4390"/>
          </a:solidFill>
          <a:ln/>
        </p:spPr>
      </p:sp>
      <p:pic>
        <p:nvPicPr>
          <p:cNvPr id="13" name="Image 2" descr="/home/claude/medifarm_deck/icon_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889" y="2585009"/>
            <a:ext cx="499262" cy="4992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833360" y="3566160"/>
            <a:ext cx="332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Metodologías ágiles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7970520" y="4160520"/>
            <a:ext cx="304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del proyecto bajo el marco de trabajo Scrum, de punta a punta.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371600" y="5349240"/>
            <a:ext cx="9418320" cy="0"/>
          </a:xfrm>
          <a:prstGeom prst="line">
            <a:avLst/>
          </a:prstGeom>
          <a:noFill/>
          <a:ln w="12700">
            <a:solidFill>
              <a:srgbClr val="5B439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371600" y="548640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la experiencia técnica llevando un producto desde su concepción teórica hasta su despliegue en un entorno real, fortaleciendo además liderazgo y gestión de requerimientos.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 DEL PROYECTO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alcance viable dentro de la asignatura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46020" cy="3794760"/>
          </a:xfrm>
          <a:prstGeom prst="roundRect">
            <a:avLst>
              <a:gd name="adj" fmla="val 3738"/>
            </a:avLst>
          </a:prstGeom>
          <a:solidFill>
            <a:srgbClr val="F4F2FA"/>
          </a:solidFill>
          <a:ln/>
        </p:spPr>
      </p:sp>
      <p:sp>
        <p:nvSpPr>
          <p:cNvPr id="5" name="Shape 3"/>
          <p:cNvSpPr/>
          <p:nvPr/>
        </p:nvSpPr>
        <p:spPr>
          <a:xfrm>
            <a:off x="1405890" y="2240280"/>
            <a:ext cx="731520" cy="73152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6" name="Image 0" descr="/home/claude/medifarm_deck/icon_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455" y="241584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Tiempo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0802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 semestre + carga horaria de la asignatura permiten múltiples Sprints.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68980" y="1965960"/>
            <a:ext cx="2446020" cy="3794760"/>
          </a:xfrm>
          <a:prstGeom prst="roundRect">
            <a:avLst>
              <a:gd name="adj" fmla="val 3738"/>
            </a:avLst>
          </a:prstGeom>
          <a:solidFill>
            <a:srgbClr val="F4F2FA"/>
          </a:solidFill>
          <a:ln/>
        </p:spPr>
      </p:sp>
      <p:sp>
        <p:nvSpPr>
          <p:cNvPr id="10" name="Shape 7"/>
          <p:cNvSpPr/>
          <p:nvPr/>
        </p:nvSpPr>
        <p:spPr>
          <a:xfrm>
            <a:off x="4126230" y="2240280"/>
            <a:ext cx="731520" cy="73152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11" name="Image 1" descr="/home/claude/medifarm_deck/icon_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795" y="2415845"/>
            <a:ext cx="380390" cy="38039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06140" y="31089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451860" y="3566160"/>
            <a:ext cx="20802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Code, Git/GitHub, GCP (instancias gratuitas) y PostgreSQL/Supabase.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89320" y="1965960"/>
            <a:ext cx="2446020" cy="3794760"/>
          </a:xfrm>
          <a:prstGeom prst="roundRect">
            <a:avLst>
              <a:gd name="adj" fmla="val 3738"/>
            </a:avLst>
          </a:prstGeom>
          <a:solidFill>
            <a:srgbClr val="F4F2FA"/>
          </a:solidFill>
          <a:ln/>
        </p:spPr>
      </p:sp>
      <p:sp>
        <p:nvSpPr>
          <p:cNvPr id="15" name="Shape 11"/>
          <p:cNvSpPr/>
          <p:nvPr/>
        </p:nvSpPr>
        <p:spPr>
          <a:xfrm>
            <a:off x="6846570" y="2240280"/>
            <a:ext cx="731520" cy="73152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16" name="Image 2" descr="/home/claude/medifarm_deck/icon_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135" y="241584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31089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a favor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172200" y="3566160"/>
            <a:ext cx="20802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React.js/Node.js con amplia documentación y roles Scrum bien definidos.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709660" y="1965960"/>
            <a:ext cx="2446020" cy="3794760"/>
          </a:xfrm>
          <a:prstGeom prst="roundRect">
            <a:avLst>
              <a:gd name="adj" fmla="val 3738"/>
            </a:avLst>
          </a:prstGeom>
          <a:solidFill>
            <a:srgbClr val="F4F2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566910" y="2240280"/>
            <a:ext cx="731520" cy="731520"/>
          </a:xfrm>
          <a:prstGeom prst="ellipse">
            <a:avLst/>
          </a:prstGeom>
          <a:solidFill>
            <a:srgbClr val="E85A45"/>
          </a:solidFill>
          <a:ln/>
        </p:spPr>
      </p:sp>
      <p:pic>
        <p:nvPicPr>
          <p:cNvPr id="21" name="Image 3" descr="/home/claude/medifarm_deck/icon_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2475" y="2415845"/>
            <a:ext cx="380390" cy="3803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846820" y="3108960"/>
            <a:ext cx="21717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 de riesgo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892540" y="3566160"/>
            <a:ext cx="20802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disponibilidad del cliente; se mitiga con validaciones breves en Sprint Reviews.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Scrum: entregas modulares e iterativas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mediante Sprints cortos, con adaptación constante a los requerimientos del cliente y reducción de riesgos desde las primeras etapas.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68680" y="2606040"/>
            <a:ext cx="10058400" cy="0"/>
          </a:xfrm>
          <a:prstGeom prst="line">
            <a:avLst/>
          </a:prstGeom>
          <a:noFill/>
          <a:ln w="25400">
            <a:solidFill>
              <a:srgbClr val="D8D2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86000"/>
            <a:ext cx="640080" cy="640080"/>
          </a:xfrm>
          <a:prstGeom prst="ellipse">
            <a:avLst/>
          </a:prstGeom>
          <a:solidFill>
            <a:srgbClr val="46327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2F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Planning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3794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seleccionan las funcionalidades del Backlog a construir en la iteración.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2286000"/>
            <a:ext cx="640080" cy="64008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971800" y="3200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2FA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Scrum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08960" y="3794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rápida del equipo para levantar bloqueos durante el desarrollo.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286000"/>
            <a:ext cx="640080" cy="640080"/>
          </a:xfrm>
          <a:prstGeom prst="ellipse">
            <a:avLst/>
          </a:prstGeom>
          <a:solidFill>
            <a:srgbClr val="463270"/>
          </a:solidFill>
          <a:ln/>
        </p:spPr>
      </p:sp>
      <p:sp>
        <p:nvSpPr>
          <p:cNvPr id="17" name="Text 15"/>
          <p:cNvSpPr/>
          <p:nvPr/>
        </p:nvSpPr>
        <p:spPr>
          <a:xfrm>
            <a:off x="576072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77840" y="3200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2FA"/>
          </a:solidFill>
          <a:ln/>
        </p:spPr>
      </p:sp>
      <p:sp>
        <p:nvSpPr>
          <p:cNvPr id="19" name="Text 17"/>
          <p:cNvSpPr/>
          <p:nvPr/>
        </p:nvSpPr>
        <p:spPr>
          <a:xfrm>
            <a:off x="571500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Review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715000" y="3794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 software funcional presentado y validado con el cliente.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66760" y="2286000"/>
            <a:ext cx="640080" cy="640080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83880" y="3200400"/>
            <a:ext cx="2514600" cy="1920240"/>
          </a:xfrm>
          <a:prstGeom prst="roundRect">
            <a:avLst>
              <a:gd name="adj" fmla="val 3810"/>
            </a:avLst>
          </a:prstGeom>
          <a:solidFill>
            <a:srgbClr val="F4F2FA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Retrospective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21040" y="3794760"/>
            <a:ext cx="2194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interno de la forma de trabajo para la siguiente iteración.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440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se repite Sprint tras Sprint hasta completar el desarrollo del ecosistema FarmaClick.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responsabilidades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22320" cy="3931920"/>
          </a:xfrm>
          <a:prstGeom prst="roundRect">
            <a:avLst>
              <a:gd name="adj" fmla="val 2752"/>
            </a:avLst>
          </a:prstGeom>
          <a:solidFill>
            <a:srgbClr val="F4F2FA"/>
          </a:solidFill>
          <a:ln/>
          <a:effectLst>
            <a:outerShdw sx="100000" sy="100000" kx="0" ky="0" algn="bl" rotWithShape="0" blurRad="76200" dist="25400" dir="5400000">
              <a:srgbClr val="6B5A9A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752600" y="2331720"/>
            <a:ext cx="914400" cy="91440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6" name="Image 0" descr="/home/claude/medifarm_deck/icon_usert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72056" y="255117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429000"/>
            <a:ext cx="286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Alejandro Fuentes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Developer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277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con el cliente MediFarm, traduce necesidades en requerimientos técnicos y mantiene el Backlog.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191000" y="1828800"/>
            <a:ext cx="3322320" cy="3931920"/>
          </a:xfrm>
          <a:prstGeom prst="roundRect">
            <a:avLst>
              <a:gd name="adj" fmla="val 2752"/>
            </a:avLst>
          </a:prstGeom>
          <a:solidFill>
            <a:srgbClr val="F4F2FA"/>
          </a:solidFill>
          <a:ln/>
          <a:effectLst>
            <a:outerShdw sx="100000" sy="100000" kx="0" ky="0" algn="bl" rotWithShape="0" blurRad="76200" dist="25400" dir="5400000">
              <a:srgbClr val="6B5A9A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2331720"/>
            <a:ext cx="914400" cy="914400"/>
          </a:xfrm>
          <a:prstGeom prst="ellipse">
            <a:avLst/>
          </a:prstGeom>
          <a:solidFill>
            <a:srgbClr val="0099BE"/>
          </a:solidFill>
          <a:ln/>
        </p:spPr>
      </p:sp>
      <p:pic>
        <p:nvPicPr>
          <p:cNvPr id="12" name="Image 1" descr="/home/claude/medifarm_deck/icon_userge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416" y="255117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9600" y="3429000"/>
            <a:ext cx="286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Víctor Rubilar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419600" y="384048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 / Developer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465320" y="4297680"/>
            <a:ext cx="277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ceremonias, resuelve bloqueos y participa en la configuración de arquitectura y código.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833360" y="1828800"/>
            <a:ext cx="3322320" cy="3931920"/>
          </a:xfrm>
          <a:prstGeom prst="roundRect">
            <a:avLst>
              <a:gd name="adj" fmla="val 2752"/>
            </a:avLst>
          </a:prstGeom>
          <a:solidFill>
            <a:srgbClr val="F4F2FA"/>
          </a:solidFill>
          <a:ln/>
          <a:effectLst>
            <a:outerShdw sx="100000" sy="100000" kx="0" ky="0" algn="bl" rotWithShape="0" blurRad="76200" dist="25400" dir="5400000">
              <a:srgbClr val="6B5A9A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037320" y="2331720"/>
            <a:ext cx="914400" cy="914400"/>
          </a:xfrm>
          <a:prstGeom prst="ellipse">
            <a:avLst/>
          </a:prstGeom>
          <a:solidFill>
            <a:srgbClr val="463270"/>
          </a:solidFill>
          <a:ln/>
        </p:spPr>
      </p:sp>
      <p:pic>
        <p:nvPicPr>
          <p:cNvPr id="18" name="Image 2" descr="/home/claude/medifarm_deck/icon_user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6776" y="255117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61960" y="3429000"/>
            <a:ext cx="286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Robert Gonzalez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8061960" y="3840480"/>
            <a:ext cx="286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6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107680" y="4297680"/>
            <a:ext cx="277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en React.js, lógica de servidor en Node.js, base de datos PostgreSQL y pruebas de calidad.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Fases del Portafolio de Título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del periodo académico, organizadas en tres fases con entregas incrementales bajo el marco de trabajo Scrum.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357120" cy="502920"/>
          </a:xfrm>
          <a:prstGeom prst="rect">
            <a:avLst/>
          </a:prstGeom>
          <a:solidFill>
            <a:srgbClr val="4632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05760" y="2377440"/>
            <a:ext cx="7071360" cy="502920"/>
          </a:xfrm>
          <a:prstGeom prst="rect">
            <a:avLst/>
          </a:prstGeom>
          <a:solidFill>
            <a:srgbClr val="0099B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977120" y="2377440"/>
            <a:ext cx="1178560" cy="502920"/>
          </a:xfrm>
          <a:prstGeom prst="rect">
            <a:avLst/>
          </a:prstGeom>
          <a:solidFill>
            <a:srgbClr val="E85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246120"/>
            <a:ext cx="3322320" cy="2651760"/>
          </a:xfrm>
          <a:prstGeom prst="roundRect">
            <a:avLst>
              <a:gd name="adj" fmla="val 3448"/>
            </a:avLst>
          </a:prstGeom>
          <a:solidFill>
            <a:srgbClr val="F4F2F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463270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347472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4023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63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 – 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434840"/>
            <a:ext cx="268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proyecto: contexto, objetivos, metodología y plan de trabajo.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91000" y="3246120"/>
            <a:ext cx="3322320" cy="2651760"/>
          </a:xfrm>
          <a:prstGeom prst="roundRect">
            <a:avLst>
              <a:gd name="adj" fmla="val 3448"/>
            </a:avLst>
          </a:prstGeom>
          <a:solidFill>
            <a:srgbClr val="F4F2F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65320" y="3520440"/>
            <a:ext cx="384048" cy="384048"/>
          </a:xfrm>
          <a:prstGeom prst="ellipse">
            <a:avLst/>
          </a:prstGeom>
          <a:solidFill>
            <a:srgbClr val="0099BE"/>
          </a:solidFill>
          <a:ln/>
        </p:spPr>
      </p:sp>
      <p:sp>
        <p:nvSpPr>
          <p:cNvPr id="15" name="Text 13"/>
          <p:cNvSpPr/>
          <p:nvPr/>
        </p:nvSpPr>
        <p:spPr>
          <a:xfrm>
            <a:off x="5013960" y="347472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11040" y="4023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 – 16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11040" y="4434840"/>
            <a:ext cx="268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 Sprints: arquitectura, módulo administrativo y módulo e-commerce.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833360" y="3246120"/>
            <a:ext cx="3322320" cy="2651760"/>
          </a:xfrm>
          <a:prstGeom prst="roundRect">
            <a:avLst>
              <a:gd name="adj" fmla="val 3448"/>
            </a:avLst>
          </a:prstGeom>
          <a:solidFill>
            <a:srgbClr val="F4F2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7680" y="3520440"/>
            <a:ext cx="384048" cy="384048"/>
          </a:xfrm>
          <a:prstGeom prst="ellipse">
            <a:avLst/>
          </a:prstGeom>
          <a:solidFill>
            <a:srgbClr val="E85A45"/>
          </a:solidFill>
          <a:ln/>
        </p:spPr>
      </p:sp>
      <p:sp>
        <p:nvSpPr>
          <p:cNvPr id="20" name="Text 18"/>
          <p:cNvSpPr/>
          <p:nvPr/>
        </p:nvSpPr>
        <p:spPr>
          <a:xfrm>
            <a:off x="8656320" y="347472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4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53400" y="4023360"/>
            <a:ext cx="277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16 – 18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153400" y="4434840"/>
            <a:ext cx="2682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 validaciones finales, integración y despliegue del sistema completo.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FarmaClick · Proyecto APT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85F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3931920"/>
            <a:ext cx="5943600" cy="5943600"/>
          </a:xfrm>
          <a:prstGeom prst="ellipse">
            <a:avLst/>
          </a:prstGeom>
          <a:solidFill>
            <a:srgbClr val="5B43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286000"/>
            <a:ext cx="5029200" cy="5029200"/>
          </a:xfrm>
          <a:prstGeom prst="ellipse">
            <a:avLst/>
          </a:prstGeom>
          <a:solidFill>
            <a:srgbClr val="00C2E8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Y PROYECCIÓN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farmacia local a negocio escalable a nivel nacional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través de esta alianza con D-Software, MediFarm busca dar un salto definitivo hacia la modernización tecnológica: pasar de ser una farmacia local limitada por su comuna, a un negocio estructurado, escalable, centrado en el cliente y con capacidad de distribución nacional.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915400" y="2468880"/>
            <a:ext cx="1554480" cy="1554480"/>
          </a:xfrm>
          <a:prstGeom prst="ellipse">
            <a:avLst/>
          </a:prstGeom>
          <a:solidFill>
            <a:srgbClr val="5B4390"/>
          </a:solidFill>
          <a:ln/>
        </p:spPr>
      </p:sp>
      <p:pic>
        <p:nvPicPr>
          <p:cNvPr id="8" name="Image 0" descr="/home/claude/medifarm_deck/icon_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4020" y="2857500"/>
            <a:ext cx="777240" cy="777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4206240"/>
            <a:ext cx="4206240" cy="0"/>
          </a:xfrm>
          <a:prstGeom prst="line">
            <a:avLst/>
          </a:prstGeom>
          <a:noFill/>
          <a:ln w="19050">
            <a:solidFill>
              <a:srgbClr val="00C2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434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por su atención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241A3F"/>
          </a:solidFill>
          <a:ln/>
        </p:spPr>
      </p:sp>
      <p:pic>
        <p:nvPicPr>
          <p:cNvPr id="12" name="Image 1" descr="/home/claude/medifarm_deck/d-softwar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144768"/>
            <a:ext cx="1691640" cy="39319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834640" y="6172200"/>
            <a:ext cx="0" cy="365760"/>
          </a:xfrm>
          <a:prstGeom prst="line">
            <a:avLst/>
          </a:prstGeom>
          <a:noFill/>
          <a:ln w="12700">
            <a:solidFill>
              <a:srgbClr val="685F7D"/>
            </a:solidFill>
            <a:prstDash val="solid"/>
          </a:ln>
        </p:spPr>
      </p:sp>
      <p:pic>
        <p:nvPicPr>
          <p:cNvPr id="14" name="Image 2" descr="/home/claude/medifarm_deck/logo_MediFarm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6062472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42632" y="62636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4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 Integral FarmaClick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2026-09-03T13:28:35Z</dcterms:created>
  <dcterms:modified xsi:type="dcterms:W3CDTF">2026-09-03T13:28:35Z</dcterms:modified>
</cp:coreProperties>
</file>